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2" d="100"/>
          <a:sy n="52" d="100"/>
        </p:scale>
        <p:origin x="86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31"/>
          </a:solidFill>
          <a:ln>
            <a:solidFill>
              <a:srgbClr val="12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RIDE IT: Drivers Engagement Analysis</a:t>
            </a:r>
          </a:p>
          <a:p>
            <a:pPr>
              <a:defRPr sz="1800">
                <a:solidFill>
                  <a:srgbClr val="C8D7EB"/>
                </a:solidFill>
              </a:defRPr>
            </a:pPr>
            <a:r>
              <a:t>Comprehensive Driver Lifecycle, Retention &amp; Operational Performance Study</a:t>
            </a:r>
          </a:p>
          <a:p>
            <a:r>
              <a:t/>
            </a:r>
            <a:br/>
            <a:r>
              <a:t>Tools: Excel | Python (Pandas, NumPy, Seaborn) | SQL | Power BI | PowerPoint</a:t>
            </a:r>
            <a:br/>
            <a:r>
              <a:t>Prepared for: Operations &amp; Fleet Strategy Leadership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1515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</a:defRPr>
            </a:pPr>
            <a:r>
              <a:t>1. Executive Summary &amp; Business Context</a:t>
            </a:r>
          </a:p>
          <a:p>
            <a:pPr>
              <a:defRPr sz="1200">
                <a:solidFill>
                  <a:srgbClr val="646E82"/>
                </a:solidFill>
              </a:defRPr>
            </a:pPr>
            <a:r>
              <a:t>RIDE IT Drivers Engagement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646E82"/>
                </a:solidFill>
              </a:defRPr>
            </a:pPr>
            <a:r>
              <a:t>BUSINESS CHALLENGE</a:t>
            </a:r>
          </a:p>
          <a:p>
            <a:pPr>
              <a:defRPr sz="2000" b="1">
                <a:solidFill>
                  <a:srgbClr val="182B49"/>
                </a:solidFill>
              </a:defRPr>
            </a:pPr>
            <a:r>
              <a:t>Driver Engagement</a:t>
            </a:r>
          </a:p>
          <a:p>
            <a:pPr>
              <a:defRPr sz="1000">
                <a:solidFill>
                  <a:srgbClr val="78828C"/>
                </a:solidFill>
              </a:defRPr>
            </a:pPr>
            <a:r>
              <a:t>Understanding dispatch conversion, cancellations &amp; fleet retention.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29184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646E82"/>
                </a:solidFill>
              </a:defRPr>
            </a:pPr>
            <a:r>
              <a:t>DATA SCOPE</a:t>
            </a:r>
          </a:p>
          <a:p>
            <a:pPr>
              <a:defRPr sz="2000" b="1">
                <a:solidFill>
                  <a:srgbClr val="182B49"/>
                </a:solidFill>
              </a:defRPr>
            </a:pPr>
            <a:r>
              <a:t>1.82M+ Records</a:t>
            </a:r>
          </a:p>
          <a:p>
            <a:pPr>
              <a:defRPr sz="1000">
                <a:solidFill>
                  <a:srgbClr val="78828C"/>
                </a:solidFill>
              </a:defRPr>
            </a:pPr>
            <a:r>
              <a:t>36,972 registered drivers across Germany (DE) and Spain (ES).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29184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646E82"/>
                </a:solidFill>
              </a:defRPr>
            </a:pPr>
            <a:r>
              <a:t>ACTIVE FLEET RATIO</a:t>
            </a:r>
          </a:p>
          <a:p>
            <a:pPr>
              <a:defRPr sz="2000" b="1">
                <a:solidFill>
                  <a:srgbClr val="182B49"/>
                </a:solidFill>
              </a:defRPr>
            </a:pPr>
            <a:r>
              <a:t>50.1%</a:t>
            </a:r>
          </a:p>
          <a:p>
            <a:pPr>
              <a:defRPr sz="1000">
                <a:solidFill>
                  <a:srgbClr val="78828C"/>
                </a:solidFill>
              </a:defRPr>
            </a:pPr>
            <a:r>
              <a:t>18,540 average monthly active drivers from 36,972 registered.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400">
                <a:solidFill>
                  <a:srgbClr val="283241"/>
                </a:solidFill>
              </a:defRPr>
            </a:pPr>
            <a:r>
              <a:rPr dirty="0"/>
              <a:t>• Operational Funnel Friction: 16.4% of driver bookings result in cancellations (61.2% passenger, 38.8% driver).</a:t>
            </a:r>
          </a:p>
          <a:p>
            <a:pPr>
              <a:defRPr sz="1400">
                <a:solidFill>
                  <a:srgbClr val="283241"/>
                </a:solidFill>
              </a:defRPr>
            </a:pPr>
            <a:r>
              <a:rPr dirty="0"/>
              <a:t>• Fleet Disparity: TAXI and PHV drivers demonstrate distinct operational engagement and acceptance behaviors.</a:t>
            </a:r>
          </a:p>
          <a:p>
            <a:pPr>
              <a:defRPr sz="1400">
                <a:solidFill>
                  <a:srgbClr val="283241"/>
                </a:solidFill>
              </a:defRPr>
            </a:pPr>
            <a:r>
              <a:rPr dirty="0"/>
              <a:t>• Lifecycle Drop-off: Engagement declines between New (0-30 days) and Early-Stage (31-90 days) drivers, highlighting an onboarding retention opportunity.</a:t>
            </a:r>
          </a:p>
          <a:p>
            <a:pPr>
              <a:defRPr sz="1400">
                <a:solidFill>
                  <a:srgbClr val="283241"/>
                </a:solidFill>
              </a:defRPr>
            </a:pPr>
            <a:r>
              <a:rPr dirty="0"/>
              <a:t>• Project Goal: Deliver actionable, data-backed insights to optimize driver engagement, fulfillment rates, and reduce cancellation friction.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</a:defRPr>
            </a:pPr>
            <a:r>
              <a:t>2. Data Architecture &amp; Quality Framework</a:t>
            </a:r>
          </a:p>
          <a:p>
            <a:pPr>
              <a:defRPr sz="1200">
                <a:solidFill>
                  <a:srgbClr val="646E82"/>
                </a:solidFill>
              </a:defRPr>
            </a:pPr>
            <a:r>
              <a:t>RIDE IT Drivers Engagement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646E82"/>
                </a:solidFill>
              </a:defRPr>
            </a:pPr>
            <a:r>
              <a:t>RAW DATASETS</a:t>
            </a:r>
          </a:p>
          <a:p>
            <a:pPr>
              <a:defRPr sz="2000" b="1">
                <a:solidFill>
                  <a:srgbClr val="182B49"/>
                </a:solidFill>
              </a:defRPr>
            </a:pPr>
            <a:r>
              <a:t>2 Source CSVs</a:t>
            </a:r>
          </a:p>
          <a:p>
            <a:pPr>
              <a:defRPr sz="1000">
                <a:solidFill>
                  <a:srgbClr val="78828C"/>
                </a:solidFill>
              </a:defRPr>
            </a:pPr>
            <a:r>
              <a:t>Drivers (36,972) + Activity (1,828,412)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29184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646E82"/>
                </a:solidFill>
              </a:defRPr>
            </a:pPr>
            <a:r>
              <a:t>CLEANING PASS RATE</a:t>
            </a:r>
          </a:p>
          <a:p>
            <a:pPr>
              <a:defRPr sz="2000" b="1">
                <a:solidFill>
                  <a:srgbClr val="182B49"/>
                </a:solidFill>
              </a:defRPr>
            </a:pPr>
            <a:r>
              <a:t>100% Validated</a:t>
            </a:r>
          </a:p>
          <a:p>
            <a:pPr>
              <a:defRPr sz="1000">
                <a:solidFill>
                  <a:srgbClr val="78828C"/>
                </a:solidFill>
              </a:defRPr>
            </a:pPr>
            <a:r>
              <a:t>Zero duplicate rows, zero negative counts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29184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646E82"/>
                </a:solidFill>
              </a:defRPr>
            </a:pPr>
            <a:r>
              <a:t>FUNNEL ALIGNMENT</a:t>
            </a:r>
          </a:p>
          <a:p>
            <a:pPr>
              <a:defRPr sz="2000" b="1">
                <a:solidFill>
                  <a:srgbClr val="182B49"/>
                </a:solidFill>
              </a:defRPr>
            </a:pPr>
            <a:r>
              <a:t>Logically Preserved</a:t>
            </a:r>
          </a:p>
          <a:p>
            <a:pPr>
              <a:defRPr sz="1000">
                <a:solidFill>
                  <a:srgbClr val="78828C"/>
                </a:solidFill>
              </a:defRPr>
            </a:pPr>
            <a:r>
              <a:t>Dispatched Offers &gt;= Bookings &gt;= Completed Rides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350">
                <a:solidFill>
                  <a:srgbClr val="283241"/>
                </a:solidFill>
              </a:defRPr>
            </a:pPr>
            <a:r>
              <a:t>• Driver Profiles (Rideit_drivers): Captures driver ID, registration date, rating, gold count, marketing preference, country, and service type.</a:t>
            </a:r>
          </a:p>
          <a:p>
            <a:pPr>
              <a:defRPr sz="1350">
                <a:solidFill>
                  <a:srgbClr val="283241"/>
                </a:solidFill>
              </a:defRPr>
            </a:pPr>
            <a:r>
              <a:t>• Activity Logs (Rideit_drivers_activity): Daily operational events tracking offers dispatched, bookings accepted, passenger cancellations, driver cancellations, and completed rides across 2020.</a:t>
            </a:r>
          </a:p>
          <a:p>
            <a:pPr>
              <a:defRPr sz="1350">
                <a:solidFill>
                  <a:srgbClr val="283241"/>
                </a:solidFill>
              </a:defRPr>
            </a:pPr>
            <a:r>
              <a:t>• Quality Cleaning Actions: Imputed 98 missing driver ratings with median (4.91), imputed missing gold counts with 0, adjusted 1.95% street-hail dispatch anomalies, and standardized all date fields into DateTime.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</a:defRPr>
            </a:pPr>
            <a:r>
              <a:t>3. Feature Engineering &amp; Engagement Score Methodology</a:t>
            </a:r>
          </a:p>
          <a:p>
            <a:pPr>
              <a:defRPr sz="1200">
                <a:solidFill>
                  <a:srgbClr val="646E82"/>
                </a:solidFill>
              </a:defRPr>
            </a:pPr>
            <a:r>
              <a:t>RIDE IT Drivers Engagement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468880" cy="1645920"/>
          </a:xfrm>
          <a:prstGeom prst="roundRect">
            <a:avLst/>
          </a:prstGeom>
          <a:solidFill>
            <a:srgbClr val="F5F7FA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646E82"/>
                </a:solidFill>
              </a:defRPr>
            </a:pPr>
            <a:r>
              <a:t>ACCEPTANCE RATE</a:t>
            </a:r>
          </a:p>
          <a:p>
            <a:pPr>
              <a:defRPr sz="2000" b="1">
                <a:solidFill>
                  <a:srgbClr val="182B49"/>
                </a:solidFill>
              </a:defRPr>
            </a:pPr>
            <a:r>
              <a:t>51.0%</a:t>
            </a:r>
          </a:p>
          <a:p>
            <a:pPr>
              <a:defRPr sz="1000">
                <a:solidFill>
                  <a:srgbClr val="78828C"/>
                </a:solidFill>
              </a:defRPr>
            </a:pPr>
            <a:r>
              <a:t>Bookings / Dispatched Offers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371600"/>
            <a:ext cx="2468880" cy="1645920"/>
          </a:xfrm>
          <a:prstGeom prst="roundRect">
            <a:avLst/>
          </a:prstGeom>
          <a:solidFill>
            <a:srgbClr val="F5F7FA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646E82"/>
                </a:solidFill>
              </a:defRPr>
            </a:pPr>
            <a:r>
              <a:t>COMPLETION RATE</a:t>
            </a:r>
          </a:p>
          <a:p>
            <a:pPr>
              <a:defRPr sz="2000" b="1">
                <a:solidFill>
                  <a:srgbClr val="182B49"/>
                </a:solidFill>
              </a:defRPr>
            </a:pPr>
            <a:r>
              <a:t>83.7%</a:t>
            </a:r>
          </a:p>
          <a:p>
            <a:pPr>
              <a:defRPr sz="1000">
                <a:solidFill>
                  <a:srgbClr val="78828C"/>
                </a:solidFill>
              </a:defRPr>
            </a:pPr>
            <a:r>
              <a:t>Completed Rides / Bookings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2468880" cy="1645920"/>
          </a:xfrm>
          <a:prstGeom prst="roundRect">
            <a:avLst/>
          </a:prstGeom>
          <a:solidFill>
            <a:srgbClr val="F5F7FA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646E82"/>
                </a:solidFill>
              </a:defRPr>
            </a:pPr>
            <a:r>
              <a:t>CANCELLATION RATE</a:t>
            </a:r>
          </a:p>
          <a:p>
            <a:pPr>
              <a:defRPr sz="2000" b="1">
                <a:solidFill>
                  <a:srgbClr val="182B49"/>
                </a:solidFill>
              </a:defRPr>
            </a:pPr>
            <a:r>
              <a:t>16.4%</a:t>
            </a:r>
          </a:p>
          <a:p>
            <a:pPr>
              <a:defRPr sz="1000">
                <a:solidFill>
                  <a:srgbClr val="78828C"/>
                </a:solidFill>
              </a:defRPr>
            </a:pPr>
            <a:r>
              <a:t>Total Cancellations / Bookings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371600"/>
            <a:ext cx="2468880" cy="1645920"/>
          </a:xfrm>
          <a:prstGeom prst="roundRect">
            <a:avLst/>
          </a:prstGeom>
          <a:solidFill>
            <a:srgbClr val="F5F7FA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646E82"/>
                </a:solidFill>
              </a:defRPr>
            </a:pPr>
            <a:r>
              <a:t>AVG ENGAGEMENT</a:t>
            </a:r>
          </a:p>
          <a:p>
            <a:pPr>
              <a:defRPr sz="2000" b="1">
                <a:solidFill>
                  <a:srgbClr val="182B49"/>
                </a:solidFill>
              </a:defRPr>
            </a:pPr>
            <a:r>
              <a:t>62.3 / 100</a:t>
            </a:r>
          </a:p>
          <a:p>
            <a:pPr>
              <a:defRPr sz="1000">
                <a:solidFill>
                  <a:srgbClr val="78828C"/>
                </a:solidFill>
              </a:defRPr>
            </a:pPr>
            <a:r>
              <a:t>Overall Fleet Average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698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>
                <a:solidFill>
                  <a:srgbClr val="283241"/>
                </a:solidFill>
              </a:defRPr>
            </a:pPr>
            <a:r>
              <a:t>• Total Cancellations = Passenger Cancellations + Driver Cancellations.</a:t>
            </a:r>
          </a:p>
          <a:p>
            <a:pPr>
              <a:defRPr sz="1200">
                <a:solidFill>
                  <a:srgbClr val="283241"/>
                </a:solidFill>
              </a:defRPr>
            </a:pPr>
            <a:r>
              <a:t>• Driver Tenure = (active_date - date_registration) in days, segmented into: New (0-30d), Early-Stage (31-90d), Established (91-365d), Veteran (365+d).</a:t>
            </a:r>
          </a:p>
          <a:p>
            <a:pPr>
              <a:defRPr sz="1200">
                <a:solidFill>
                  <a:srgbClr val="283241"/>
                </a:solidFill>
              </a:defRPr>
            </a:pPr>
            <a:r>
              <a:t>• Composite Engagement Score (0-100 Scale):</a:t>
            </a:r>
          </a:p>
          <a:p>
            <a:pPr>
              <a:defRPr sz="1200">
                <a:solidFill>
                  <a:srgbClr val="283241"/>
                </a:solidFill>
              </a:defRPr>
            </a:pPr>
            <a:r>
              <a:t>   - 35% Weight: Completion Rate (Fulfillment reliability on accepted trips).</a:t>
            </a:r>
          </a:p>
          <a:p>
            <a:pPr>
              <a:defRPr sz="1200">
                <a:solidFill>
                  <a:srgbClr val="283241"/>
                </a:solidFill>
              </a:defRPr>
            </a:pPr>
            <a:r>
              <a:t>   - 25% Weight: Acceptance Rate (Dispatch responsiveness).</a:t>
            </a:r>
          </a:p>
          <a:p>
            <a:pPr>
              <a:defRPr sz="1200">
                <a:solidFill>
                  <a:srgbClr val="283241"/>
                </a:solidFill>
              </a:defRPr>
            </a:pPr>
            <a:r>
              <a:t>   - 25% Weight: Daily Ride Volume Scale (Capacity utilization: min(rides, 10)/10 * 100).</a:t>
            </a:r>
          </a:p>
          <a:p>
            <a:pPr>
              <a:defRPr sz="1200">
                <a:solidFill>
                  <a:srgbClr val="283241"/>
                </a:solidFill>
              </a:defRPr>
            </a:pPr>
            <a:r>
              <a:t>   - 15% Weight: Low-Cancellation Reliability Index (100 - Cancellation Rate).</a:t>
            </a:r>
          </a:p>
          <a:p>
            <a:pPr>
              <a:defRPr sz="1200">
                <a:solidFill>
                  <a:srgbClr val="283241"/>
                </a:solidFill>
              </a:defRPr>
            </a:pPr>
            <a:r>
              <a:t>• Tiers: High Engagement (70-100: 37.8%), Medium Engagement (40-69: 51.8%), Low Engagement (&lt;40: 10.4%).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</a:defRPr>
            </a:pPr>
            <a:r>
              <a:t>4. Temporal Analysis: Monthly Drivers &amp; Ride Trends</a:t>
            </a:r>
          </a:p>
          <a:p>
            <a:pPr>
              <a:defRPr sz="1200">
                <a:solidFill>
                  <a:srgbClr val="646E82"/>
                </a:solidFill>
              </a:defRPr>
            </a:pPr>
            <a:r>
              <a:t>RIDE IT Drivers Engagement Analysis</a:t>
            </a:r>
          </a:p>
        </p:txBody>
      </p:sp>
      <p:pic>
        <p:nvPicPr>
          <p:cNvPr id="3" name="Picture 2" descr="01_monthly_drivers_ride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37160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50">
                <a:solidFill>
                  <a:srgbClr val="1E2837"/>
                </a:solidFill>
              </a:defRPr>
            </a:pPr>
            <a:r>
              <a:t>Key Findings (Time Trends):</a:t>
            </a:r>
          </a:p>
          <a:p>
            <a:pPr>
              <a:defRPr sz="1250">
                <a:solidFill>
                  <a:srgbClr val="1E2837"/>
                </a:solidFill>
              </a:defRPr>
            </a:pPr>
            <a:r>
              <a:t>• Peak Activity: Active drivers peaked in early 2020 (Jan-Feb) at over 20,000+ monthly active drivers.</a:t>
            </a:r>
          </a:p>
          <a:p>
            <a:pPr>
              <a:defRPr sz="1250">
                <a:solidFill>
                  <a:srgbClr val="1E2837"/>
                </a:solidFill>
              </a:defRPr>
            </a:pPr>
            <a:r>
              <a:t>• Mobility Contraction: Significant volume contraction observed during March-April 2020, followed by steady operational recovery through Q3 and Q4.</a:t>
            </a:r>
          </a:p>
          <a:p>
            <a:pPr>
              <a:defRPr sz="1250">
                <a:solidFill>
                  <a:srgbClr val="1E2837"/>
                </a:solidFill>
              </a:defRPr>
            </a:pPr>
            <a:r>
              <a:t>• Core Engagement Stability: The composite engagement score remained resilient across the year (~62-65 points), showing stable core fleet dedication.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</a:defRPr>
            </a:pPr>
            <a:r>
              <a:t>5. Driver Engagement Score Distribution &amp; Progression</a:t>
            </a:r>
          </a:p>
          <a:p>
            <a:pPr>
              <a:defRPr sz="1200">
                <a:solidFill>
                  <a:srgbClr val="646E82"/>
                </a:solidFill>
              </a:defRPr>
            </a:pPr>
            <a:r>
              <a:t>RIDE IT Drivers Engagement Analysis</a:t>
            </a:r>
          </a:p>
        </p:txBody>
      </p:sp>
      <p:pic>
        <p:nvPicPr>
          <p:cNvPr id="3" name="Picture 2" descr="02_monthly_engagement_rate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37160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50">
                <a:solidFill>
                  <a:srgbClr val="1E2837"/>
                </a:solidFill>
              </a:defRPr>
            </a:pPr>
            <a:r>
              <a:t>Engagement Tiers Breakdown:</a:t>
            </a:r>
          </a:p>
          <a:p>
            <a:pPr>
              <a:defRPr sz="1250">
                <a:solidFill>
                  <a:srgbClr val="1E2837"/>
                </a:solidFill>
              </a:defRPr>
            </a:pPr>
            <a:r>
              <a:t>• High Engagement (70-100): 37.8% of driver-days. Power drivers achieving 90%+ completion and consistent daily rides.</a:t>
            </a:r>
          </a:p>
          <a:p>
            <a:pPr>
              <a:defRPr sz="1250">
                <a:solidFill>
                  <a:srgbClr val="1E2837"/>
                </a:solidFill>
              </a:defRPr>
            </a:pPr>
            <a:r>
              <a:t>• Medium Engagement (40-69): 51.8% of driver-days. The core operational fleet maintaining steady daily trip fulfillment.</a:t>
            </a:r>
          </a:p>
          <a:p>
            <a:pPr>
              <a:defRPr sz="1250">
                <a:solidFill>
                  <a:srgbClr val="1E2837"/>
                </a:solidFill>
              </a:defRPr>
            </a:pPr>
            <a:r>
              <a:t>• Low Engagement (&lt;40): 10.4% of driver-days. Drivers characterized by higher cancellation rates and lower acceptance.</a:t>
            </a:r>
          </a:p>
          <a:p>
            <a:pPr>
              <a:defRPr sz="1250">
                <a:solidFill>
                  <a:srgbClr val="1E2837"/>
                </a:solidFill>
              </a:defRPr>
            </a:pPr>
            <a:r>
              <a:t>• Strategic Opportunity: Upgrading a portion of Medium drivers to High engagement unlocks significant additional trip capacity.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</a:defRPr>
            </a:pPr>
            <a:r>
              <a:t>6. Key Drivers of Engagement: Service Type &amp; Markets</a:t>
            </a:r>
          </a:p>
          <a:p>
            <a:pPr>
              <a:defRPr sz="1200">
                <a:solidFill>
                  <a:srgbClr val="646E82"/>
                </a:solidFill>
              </a:defRPr>
            </a:pPr>
            <a:r>
              <a:t>RIDE IT Drivers Engagement Analysis</a:t>
            </a:r>
          </a:p>
        </p:txBody>
      </p:sp>
      <p:pic>
        <p:nvPicPr>
          <p:cNvPr id="3" name="Picture 2" descr="03_service_typ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37160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50">
                <a:solidFill>
                  <a:srgbClr val="1E2837"/>
                </a:solidFill>
              </a:defRPr>
            </a:pPr>
            <a:r>
              <a:t>Segment Comparison Insights:</a:t>
            </a:r>
          </a:p>
          <a:p>
            <a:pPr>
              <a:defRPr sz="1250">
                <a:solidFill>
                  <a:srgbClr val="1E2837"/>
                </a:solidFill>
              </a:defRPr>
            </a:pPr>
            <a:r>
              <a:t>• TAXI Fleet Volume: TAXI drivers generate over 85% of platform completed rides (11.8M rides) and achieve higher avg engagement (63.1) vs PHV (58.4).</a:t>
            </a:r>
          </a:p>
          <a:p>
            <a:pPr>
              <a:defRPr sz="1250">
                <a:solidFill>
                  <a:srgbClr val="1E2837"/>
                </a:solidFill>
              </a:defRPr>
            </a:pPr>
            <a:r>
              <a:t>• PHV Acceptance Behavior: PHV drivers exhibit lower acceptance rates (44.1% vs 52.3% for TAXI).</a:t>
            </a:r>
          </a:p>
          <a:p>
            <a:pPr>
              <a:defRPr sz="1250">
                <a:solidFill>
                  <a:srgbClr val="1E2837"/>
                </a:solidFill>
              </a:defRPr>
            </a:pPr>
            <a:r>
              <a:t>• Market Comparison: Spain (ES) drivers average higher acceptance rates, while Germany (DE) drivers maintain higher average satisfaction ratings (4.92 vs 4.88).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</a:defRPr>
            </a:pPr>
            <a:r>
              <a:t>7. Driver Lifecycle Journey &amp; Cancellation Friction</a:t>
            </a:r>
          </a:p>
          <a:p>
            <a:pPr>
              <a:defRPr sz="1200">
                <a:solidFill>
                  <a:srgbClr val="646E82"/>
                </a:solidFill>
              </a:defRPr>
            </a:pPr>
            <a:r>
              <a:t>RIDE IT Drivers Engagement Analysis</a:t>
            </a:r>
          </a:p>
        </p:txBody>
      </p:sp>
      <p:pic>
        <p:nvPicPr>
          <p:cNvPr id="3" name="Picture 2" descr="04_driver_tenure_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89120"/>
          </a:xfrm>
          <a:prstGeom prst="rect">
            <a:avLst/>
          </a:prstGeom>
        </p:spPr>
      </p:pic>
      <p:pic>
        <p:nvPicPr>
          <p:cNvPr id="4" name="Picture 3" descr="06_cancellation_sour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1206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</a:defRPr>
            </a:pPr>
            <a:r>
              <a:t>8. Key Insights &amp; Observations</a:t>
            </a:r>
          </a:p>
          <a:p>
            <a:pPr>
              <a:defRPr sz="1200">
                <a:solidFill>
                  <a:srgbClr val="646E82"/>
                </a:solidFill>
              </a:defRPr>
            </a:pPr>
            <a:r>
              <a:t>RIDE IT Drivers Engagement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2103120"/>
          </a:xfrm>
          <a:prstGeom prst="roundRect">
            <a:avLst/>
          </a:prstGeom>
          <a:solidFill>
            <a:srgbClr val="F5F7FA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646E82"/>
                </a:solidFill>
              </a:defRPr>
            </a:pPr>
            <a:r>
              <a:t>1. EARLY RETENTION</a:t>
            </a:r>
          </a:p>
          <a:p>
            <a:pPr>
              <a:defRPr sz="2000" b="1">
                <a:solidFill>
                  <a:srgbClr val="182B49"/>
                </a:solidFill>
              </a:defRPr>
            </a:pPr>
            <a:r>
              <a:t>New vs Early-Stage</a:t>
            </a:r>
          </a:p>
          <a:p>
            <a:pPr>
              <a:defRPr sz="1000">
                <a:solidFill>
                  <a:srgbClr val="78828C"/>
                </a:solidFill>
              </a:defRPr>
            </a:pPr>
            <a:r>
              <a:t>Engagement drops from 66.5 (New: 0-30d) to 58.9 (Early: 31-90d).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291840" cy="2103120"/>
          </a:xfrm>
          <a:prstGeom prst="roundRect">
            <a:avLst/>
          </a:prstGeom>
          <a:solidFill>
            <a:srgbClr val="F5F7FA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646E82"/>
                </a:solidFill>
              </a:defRPr>
            </a:pPr>
            <a:r>
              <a:t>2. CANCELLATION SOURCES</a:t>
            </a:r>
          </a:p>
          <a:p>
            <a:pPr>
              <a:defRPr sz="2000" b="1">
                <a:solidFill>
                  <a:srgbClr val="182B49"/>
                </a:solidFill>
              </a:defRPr>
            </a:pPr>
            <a:r>
              <a:t>61.2% Passenger / 38.8% Driver</a:t>
            </a:r>
          </a:p>
          <a:p>
            <a:pPr>
              <a:defRPr sz="1000">
                <a:solidFill>
                  <a:srgbClr val="78828C"/>
                </a:solidFill>
              </a:defRPr>
            </a:pPr>
            <a:r>
              <a:t>Passenger cancellations represent the majority of platform cancellations.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291840" cy="2103120"/>
          </a:xfrm>
          <a:prstGeom prst="roundRect">
            <a:avLst/>
          </a:prstGeom>
          <a:solidFill>
            <a:srgbClr val="F5F7FA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646E82"/>
                </a:solidFill>
              </a:defRPr>
            </a:pPr>
            <a:r>
              <a:t>3. GOLD STATUS</a:t>
            </a:r>
          </a:p>
          <a:p>
            <a:pPr>
              <a:defRPr sz="2000" b="1">
                <a:solidFill>
                  <a:srgbClr val="182B49"/>
                </a:solidFill>
              </a:defRPr>
            </a:pPr>
            <a:r>
              <a:t>Higher Engagement</a:t>
            </a:r>
          </a:p>
          <a:p>
            <a:pPr>
              <a:defRPr sz="1000">
                <a:solidFill>
                  <a:srgbClr val="78828C"/>
                </a:solidFill>
              </a:defRPr>
            </a:pPr>
            <a:r>
              <a:t>Elite Gold drivers (31+) achieve 76.4 average engagement score.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6984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300">
                <a:solidFill>
                  <a:srgbClr val="1E2837"/>
                </a:solidFill>
              </a:defRPr>
            </a:pPr>
            <a:r>
              <a:t>• Marketing Preference Association: Drivers who opted in to marketing showed higher average engagement (63.2 vs 59.8) and completed 22% more rides.</a:t>
            </a:r>
          </a:p>
          <a:p>
            <a:pPr>
              <a:defRPr sz="1300">
                <a:solidFill>
                  <a:srgbClr val="1E2837"/>
                </a:solidFill>
              </a:defRPr>
            </a:pPr>
            <a:r>
              <a:t>• Rating Tier Association: Drivers with rating &gt;= 4.85 achieve 64.1 avg engagement vs 52.8 for drivers rated below 4.70.</a:t>
            </a:r>
          </a:p>
          <a:p>
            <a:pPr>
              <a:defRPr sz="1300">
                <a:solidFill>
                  <a:srgbClr val="1E2837"/>
                </a:solidFill>
              </a:defRPr>
            </a:pPr>
            <a:r>
              <a:t>• Dispatch Alignment: Minimizing driver-initiated cancellations (38.8% of cancellations) is critical to maintaining fleet productivity.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</a:defRPr>
            </a:pPr>
            <a:r>
              <a:t>9. Actionable Recommendations &amp; Opportunities</a:t>
            </a:r>
          </a:p>
          <a:p>
            <a:pPr>
              <a:defRPr sz="1200">
                <a:solidFill>
                  <a:srgbClr val="646E82"/>
                </a:solidFill>
              </a:defRPr>
            </a:pPr>
            <a:r>
              <a:t>RIDE IT Drivers Engagement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2103120"/>
          </a:xfrm>
          <a:prstGeom prst="roundRect">
            <a:avLst/>
          </a:prstGeom>
          <a:solidFill>
            <a:srgbClr val="F5F7FA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646E82"/>
                </a:solidFill>
              </a:defRPr>
            </a:pPr>
            <a:r>
              <a:t>OPPORTUNITY 1</a:t>
            </a:r>
          </a:p>
          <a:p>
            <a:pPr>
              <a:defRPr sz="2000" b="1">
                <a:solidFill>
                  <a:srgbClr val="182B49"/>
                </a:solidFill>
              </a:defRPr>
            </a:pPr>
            <a:r>
              <a:t>Early-Stage Retention</a:t>
            </a:r>
          </a:p>
          <a:p>
            <a:pPr>
              <a:defRPr sz="1000">
                <a:solidFill>
                  <a:srgbClr val="78828C"/>
                </a:solidFill>
              </a:defRPr>
            </a:pPr>
            <a:r>
              <a:t>Design targeted onboarding follow-ups during the 31-90 day window to stabilize driver engagement.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291840" cy="2103120"/>
          </a:xfrm>
          <a:prstGeom prst="roundRect">
            <a:avLst/>
          </a:prstGeom>
          <a:solidFill>
            <a:srgbClr val="F5F7FA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646E82"/>
                </a:solidFill>
              </a:defRPr>
            </a:pPr>
            <a:r>
              <a:t>OPPORTUNITY 2</a:t>
            </a:r>
          </a:p>
          <a:p>
            <a:pPr>
              <a:defRPr sz="2000" b="1">
                <a:solidFill>
                  <a:srgbClr val="182B49"/>
                </a:solidFill>
              </a:defRPr>
            </a:pPr>
            <a:r>
              <a:t>Cancellation Reduction</a:t>
            </a:r>
          </a:p>
          <a:p>
            <a:pPr>
              <a:defRPr sz="1000">
                <a:solidFill>
                  <a:srgbClr val="78828C"/>
                </a:solidFill>
              </a:defRPr>
            </a:pPr>
            <a:r>
              <a:t>Optimize dispatch pickup distance thresholds to reduce avoidable driver-initiated cancellations.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291840" cy="2103120"/>
          </a:xfrm>
          <a:prstGeom prst="roundRect">
            <a:avLst/>
          </a:prstGeom>
          <a:solidFill>
            <a:srgbClr val="F5F7FA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646E82"/>
                </a:solidFill>
              </a:defRPr>
            </a:pPr>
            <a:r>
              <a:t>OPPORTUNITY 3</a:t>
            </a:r>
          </a:p>
          <a:p>
            <a:pPr>
              <a:defRPr sz="2000" b="1">
                <a:solidFill>
                  <a:srgbClr val="182B49"/>
                </a:solidFill>
              </a:defRPr>
            </a:pPr>
            <a:r>
              <a:t>Loyalty Progression</a:t>
            </a:r>
          </a:p>
          <a:p>
            <a:pPr>
              <a:defRPr sz="1000">
                <a:solidFill>
                  <a:srgbClr val="78828C"/>
                </a:solidFill>
              </a:defRPr>
            </a:pPr>
            <a:r>
              <a:t>Encourage Gold status progression across lower-tier drivers to foster consistent engagement.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6984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300">
                <a:solidFill>
                  <a:srgbClr val="1E2837"/>
                </a:solidFill>
              </a:defRPr>
            </a:pPr>
            <a:r>
              <a:t>• Marketing Channel Utilization: Promote marketing opt-in during onboarding, as opted-in drivers demonstrate higher platform activity.</a:t>
            </a:r>
          </a:p>
          <a:p>
            <a:pPr>
              <a:defRPr sz="1300">
                <a:solidFill>
                  <a:srgbClr val="1E2837"/>
                </a:solidFill>
              </a:defRPr>
            </a:pPr>
            <a:r>
              <a:t>• PHV Fleet Support: Address specific acceptance challenges for PHV drivers to help improve conversion rates from 44.1%.</a:t>
            </a:r>
          </a:p>
          <a:p>
            <a:pPr>
              <a:defRPr sz="1300">
                <a:solidFill>
                  <a:srgbClr val="1E2837"/>
                </a:solidFill>
              </a:defRPr>
            </a:pPr>
            <a:r>
              <a:t>• Ongoing Performance Tracking: Use the 3-page Power BI Dashboard and monthly KPI queries to monitor fleet metrics across operating markets.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1048</Words>
  <Application>Microsoft Office PowerPoint</Application>
  <PresentationFormat>Widescreen</PresentationFormat>
  <Paragraphs>111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Jasvi pinky</cp:lastModifiedBy>
  <cp:revision>2</cp:revision>
  <dcterms:created xsi:type="dcterms:W3CDTF">2013-01-27T09:14:16Z</dcterms:created>
  <dcterms:modified xsi:type="dcterms:W3CDTF">2026-08-28T10:54:31Z</dcterms:modified>
  <cp:category/>
</cp:coreProperties>
</file>